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C:\Users\saira\OneDrive\Desktop\Playwright_Framework\docs\branding\innovatz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1143000"/>
          </a:xfrm>
          <a:prstGeom prst="rect">
            <a:avLst/>
          </a:prstGeom>
        </p:spPr>
      </p:pic>
      <p:pic>
        <p:nvPicPr>
          <p:cNvPr id="4" name="Image 1" descr="C:\Users\saira\OneDrive\Desktop\Playwright_Framework\docs\branding\cover-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685800"/>
            <a:ext cx="6144768" cy="8595360"/>
          </a:xfrm>
          <a:prstGeom prst="rect">
            <a:avLst/>
          </a:prstGeom>
        </p:spPr>
      </p:pic>
      <p:pic>
        <p:nvPicPr>
          <p:cNvPr id="5" name="Image 2" descr="C:\Users\saira\OneDrive\Desktop\Playwright_Framework\docs\branding\footer-pil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646920"/>
            <a:ext cx="2651760" cy="25603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60120" y="233172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Your Release Cadence with</a:t>
            </a:r>
            <a:endParaRPr lang="en-US" sz="2800" dirty="0"/>
          </a:p>
        </p:txBody>
      </p:sp>
      <p:sp>
        <p:nvSpPr>
          <p:cNvPr id="7" name="Text 2"/>
          <p:cNvSpPr/>
          <p:nvPr/>
        </p:nvSpPr>
        <p:spPr>
          <a:xfrm>
            <a:off x="960120" y="297180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4000" dirty="0"/>
          </a:p>
        </p:txBody>
      </p:sp>
      <p:sp>
        <p:nvSpPr>
          <p:cNvPr id="8" name="Text 3"/>
          <p:cNvSpPr/>
          <p:nvPr/>
        </p:nvSpPr>
        <p:spPr>
          <a:xfrm>
            <a:off x="960120" y="388620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 Design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097280" y="6903720"/>
            <a:ext cx="9235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BDD Cucumber framework — Gherkin authoring, Page Object Model, branded reports, and optional AI failure triage for core banking.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097280" y="96469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Innovatz Global  ·  Stakeholder briefing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02870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00" cy="73152"/>
          </a:xfrm>
          <a:prstGeom prst="rect">
            <a:avLst/>
          </a:prstGeom>
          <a:solidFill>
            <a:srgbClr val="4EA72E"/>
          </a:solidFill>
          <a:ln/>
        </p:spPr>
      </p:sp>
      <p:pic>
        <p:nvPicPr>
          <p:cNvPr id="5" name="Image 0" descr="C:\Users\saira\OneDrive\Desktop\Playwright_Framework\docs\branding\innovatz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347472"/>
            <a:ext cx="1508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200" dirty="0"/>
          </a:p>
        </p:txBody>
      </p:sp>
      <p:pic>
        <p:nvPicPr>
          <p:cNvPr id="7" name="Image 1" descr="C:\Users\saira\OneDrive\Desktop\Playwright_Framework\docs\branding\footer-pi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0" y="9802368"/>
            <a:ext cx="2651760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9784080"/>
            <a:ext cx="1280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Innovatz Global  ·  High Level Design  ·  Confidential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1051560" y="1325880"/>
            <a:ext cx="16002000" cy="2377440"/>
          </a:xfrm>
          <a:prstGeom prst="roundRect">
            <a:avLst>
              <a:gd name="adj" fmla="val 4615"/>
            </a:avLst>
          </a:prstGeom>
          <a:solidFill>
            <a:srgbClr val="E8F4F8"/>
          </a:solidFill>
          <a:ln/>
        </p:spPr>
      </p:sp>
      <p:sp>
        <p:nvSpPr>
          <p:cNvPr id="10" name="Shape 6"/>
          <p:cNvSpPr/>
          <p:nvPr/>
        </p:nvSpPr>
        <p:spPr>
          <a:xfrm>
            <a:off x="1051560" y="1325880"/>
            <a:ext cx="146304" cy="237744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1" name="Text 7"/>
          <p:cNvSpPr/>
          <p:nvPr/>
        </p:nvSpPr>
        <p:spPr>
          <a:xfrm>
            <a:off x="1463040" y="1527048"/>
            <a:ext cx="1527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463040" y="2011680"/>
            <a:ext cx="1527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UI automation: Gherkin (plain English) + Playwright browsers + branded reports and optional AI triage.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051560" y="3931920"/>
            <a:ext cx="16002000" cy="2377440"/>
          </a:xfrm>
          <a:prstGeom prst="roundRect">
            <a:avLst>
              <a:gd name="adj" fmla="val 4615"/>
            </a:avLst>
          </a:prstGeom>
          <a:solidFill>
            <a:srgbClr val="E8F4F8"/>
          </a:solidFill>
          <a:ln/>
        </p:spPr>
      </p:sp>
      <p:sp>
        <p:nvSpPr>
          <p:cNvPr id="14" name="Shape 10"/>
          <p:cNvSpPr/>
          <p:nvPr/>
        </p:nvSpPr>
        <p:spPr>
          <a:xfrm>
            <a:off x="1051560" y="3931920"/>
            <a:ext cx="146304" cy="2377440"/>
          </a:xfrm>
          <a:prstGeom prst="rect">
            <a:avLst/>
          </a:prstGeom>
          <a:solidFill>
            <a:srgbClr val="4EA72E"/>
          </a:solidFill>
          <a:ln/>
        </p:spPr>
      </p:sp>
      <p:sp>
        <p:nvSpPr>
          <p:cNvPr id="15" name="Text 11"/>
          <p:cNvSpPr/>
          <p:nvPr/>
        </p:nvSpPr>
        <p:spPr>
          <a:xfrm>
            <a:off x="1463040" y="4133088"/>
            <a:ext cx="1527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463040" y="4617720"/>
            <a:ext cx="1527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at corebanking.testingprofessor.net — staff login, customer lifecycle, and deposits.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1051560" y="6537960"/>
            <a:ext cx="16002000" cy="2377440"/>
          </a:xfrm>
          <a:prstGeom prst="roundRect">
            <a:avLst>
              <a:gd name="adj" fmla="val 4615"/>
            </a:avLst>
          </a:prstGeom>
          <a:solidFill>
            <a:srgbClr val="E8F4F8"/>
          </a:solidFill>
          <a:ln/>
        </p:spPr>
      </p:sp>
      <p:sp>
        <p:nvSpPr>
          <p:cNvPr id="18" name="Shape 14"/>
          <p:cNvSpPr/>
          <p:nvPr/>
        </p:nvSpPr>
        <p:spPr>
          <a:xfrm>
            <a:off x="1051560" y="6537960"/>
            <a:ext cx="146304" cy="237744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9" name="Text 15"/>
          <p:cNvSpPr/>
          <p:nvPr/>
        </p:nvSpPr>
        <p:spPr>
          <a:xfrm>
            <a:off x="1463040" y="6739128"/>
            <a:ext cx="1527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463040" y="7223760"/>
            <a:ext cx="1527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regression feedback, living documentation, audit-ready evidence, and CI against the real AUT.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02870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00" cy="73152"/>
          </a:xfrm>
          <a:prstGeom prst="rect">
            <a:avLst/>
          </a:prstGeom>
          <a:solidFill>
            <a:srgbClr val="4EA72E"/>
          </a:solidFill>
          <a:ln/>
        </p:spPr>
      </p:sp>
      <p:pic>
        <p:nvPicPr>
          <p:cNvPr id="5" name="Image 0" descr="C:\Users\saira\OneDrive\Desktop\Playwright_Framework\docs\branding\innovatz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347472"/>
            <a:ext cx="1508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3200" dirty="0"/>
          </a:p>
        </p:txBody>
      </p:sp>
      <p:pic>
        <p:nvPicPr>
          <p:cNvPr id="7" name="Image 1" descr="C:\Users\saira\OneDrive\Desktop\Playwright_Framework\docs\branding\footer-pi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0" y="9802368"/>
            <a:ext cx="2651760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9784080"/>
            <a:ext cx="1280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Innovatz Global  ·  High Level Design  ·  Confidential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1325880"/>
          <a:ext cx="1600200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10332720"/>
              </a:tblGrid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support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56082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Readable tests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Gherkin + business classes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BFC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Maintainable automation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POM + PlaywrightActions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failure analysis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Extent, custom HTML, optional LLM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BFC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/ demo evidence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Screenshots, video, traces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confidence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/ Jenkins / Docker / BrowserStack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02870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00" cy="73152"/>
          </a:xfrm>
          <a:prstGeom prst="rect">
            <a:avLst/>
          </a:prstGeom>
          <a:solidFill>
            <a:srgbClr val="4EA72E"/>
          </a:solidFill>
          <a:ln/>
        </p:spPr>
      </p:sp>
      <p:pic>
        <p:nvPicPr>
          <p:cNvPr id="5" name="Image 0" descr="C:\Users\saira\OneDrive\Desktop\Playwright_Framework\docs\branding\innovatz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347472"/>
            <a:ext cx="1508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at a glance</a:t>
            </a:r>
            <a:endParaRPr lang="en-US" sz="3200" dirty="0"/>
          </a:p>
        </p:txBody>
      </p:sp>
      <p:pic>
        <p:nvPicPr>
          <p:cNvPr id="7" name="Image 1" descr="C:\Users\saira\OneDrive\Desktop\Playwright_Framework\docs\branding\footer-pi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0" y="9802368"/>
            <a:ext cx="2651760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9784080"/>
            <a:ext cx="1280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Innovatz Global  ·  High Level Design  ·  Confidential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1051560" y="1920240"/>
            <a:ext cx="2880360" cy="2926080"/>
          </a:xfrm>
          <a:prstGeom prst="roundRect">
            <a:avLst>
              <a:gd name="adj" fmla="val 3175"/>
            </a:avLst>
          </a:prstGeom>
          <a:solidFill>
            <a:srgbClr val="156082"/>
          </a:solidFill>
          <a:ln/>
        </p:spPr>
      </p:sp>
      <p:sp>
        <p:nvSpPr>
          <p:cNvPr id="10" name="Text 6"/>
          <p:cNvSpPr/>
          <p:nvPr/>
        </p:nvSpPr>
        <p:spPr>
          <a:xfrm>
            <a:off x="1051560" y="2240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143000" y="301752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scenarios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74904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4297680" y="1920240"/>
            <a:ext cx="2880360" cy="2926080"/>
          </a:xfrm>
          <a:prstGeom prst="roundRect">
            <a:avLst>
              <a:gd name="adj" fmla="val 3175"/>
            </a:avLst>
          </a:prstGeom>
          <a:solidFill>
            <a:srgbClr val="0E2841"/>
          </a:solidFill>
          <a:ln/>
        </p:spPr>
      </p:sp>
      <p:sp>
        <p:nvSpPr>
          <p:cNvPr id="14" name="Text 10"/>
          <p:cNvSpPr/>
          <p:nvPr/>
        </p:nvSpPr>
        <p:spPr>
          <a:xfrm>
            <a:off x="4297680" y="2240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389120" y="301752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Cucumber glue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99516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7543800" y="1920240"/>
            <a:ext cx="2880360" cy="2926080"/>
          </a:xfrm>
          <a:prstGeom prst="roundRect">
            <a:avLst>
              <a:gd name="adj" fmla="val 3175"/>
            </a:avLst>
          </a:prstGeom>
          <a:solidFill>
            <a:srgbClr val="156082"/>
          </a:solidFill>
          <a:ln/>
        </p:spPr>
      </p:sp>
      <p:sp>
        <p:nvSpPr>
          <p:cNvPr id="18" name="Text 14"/>
          <p:cNvSpPr/>
          <p:nvPr/>
        </p:nvSpPr>
        <p:spPr>
          <a:xfrm>
            <a:off x="7543800" y="2240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7635240" y="301752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orchestration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024128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10789920" y="1920240"/>
            <a:ext cx="2880360" cy="2926080"/>
          </a:xfrm>
          <a:prstGeom prst="roundRect">
            <a:avLst>
              <a:gd name="adj" fmla="val 3175"/>
            </a:avLst>
          </a:prstGeom>
          <a:solidFill>
            <a:srgbClr val="0E2841"/>
          </a:solidFill>
          <a:ln/>
        </p:spPr>
      </p:sp>
      <p:sp>
        <p:nvSpPr>
          <p:cNvPr id="22" name="Text 18"/>
          <p:cNvSpPr/>
          <p:nvPr/>
        </p:nvSpPr>
        <p:spPr>
          <a:xfrm>
            <a:off x="10789920" y="2240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10881360" y="301752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&amp; UI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348740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1"/>
          <p:cNvSpPr/>
          <p:nvPr/>
        </p:nvSpPr>
        <p:spPr>
          <a:xfrm>
            <a:off x="14036040" y="1920240"/>
            <a:ext cx="2880360" cy="2926080"/>
          </a:xfrm>
          <a:prstGeom prst="roundRect">
            <a:avLst>
              <a:gd name="adj" fmla="val 3175"/>
            </a:avLst>
          </a:prstGeom>
          <a:solidFill>
            <a:srgbClr val="156082"/>
          </a:solidFill>
          <a:ln/>
        </p:spPr>
      </p:sp>
      <p:sp>
        <p:nvSpPr>
          <p:cNvPr id="26" name="Text 22"/>
          <p:cNvSpPr/>
          <p:nvPr/>
        </p:nvSpPr>
        <p:spPr>
          <a:xfrm>
            <a:off x="14036040" y="2240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14127480" y="301752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APIs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051560" y="5212080"/>
            <a:ext cx="1600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SelfHeal retries failed locators (cache → heuristics → LLM).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1051560" y="5852160"/>
            <a:ext cx="1600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Cucumber runner  ·  Playwright 1.62  ·  TypeScript  ·  Allure + Extent + Dashboard  ·  GitHub Actions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ira\OneDrive\Desktop\Playwright_Framework\docs\branding\dark-b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C:\Users\saira\OneDrive\Desktop\Playwright_Framework\docs\branding\innovatz-log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1051560" cy="1051560"/>
          </a:xfrm>
          <a:prstGeom prst="rect">
            <a:avLst/>
          </a:prstGeom>
        </p:spPr>
      </p:pic>
      <p:pic>
        <p:nvPicPr>
          <p:cNvPr id="4" name="Image 2" descr="C:\Users\saira\OneDrive\Desktop\Playwright_Framework\docs\branding\footer-pil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646920"/>
            <a:ext cx="2651760" cy="25603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371600" y="3749040"/>
            <a:ext cx="1554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HLD diagrams</a:t>
            </a:r>
            <a:endParaRPr lang="en-US" sz="4400" dirty="0"/>
          </a:p>
        </p:txBody>
      </p:sp>
      <p:sp>
        <p:nvSpPr>
          <p:cNvPr id="6" name="Text 1"/>
          <p:cNvSpPr/>
          <p:nvPr/>
        </p:nvSpPr>
        <p:spPr>
          <a:xfrm>
            <a:off x="1371600" y="4754880"/>
            <a:ext cx="1554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context through LLM routing — captured from the High Level Design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1371600" y="5486400"/>
            <a:ext cx="1554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architecture views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02870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00" cy="73152"/>
          </a:xfrm>
          <a:prstGeom prst="rect">
            <a:avLst/>
          </a:prstGeom>
          <a:solidFill>
            <a:srgbClr val="4EA72E"/>
          </a:solidFill>
          <a:ln/>
        </p:spPr>
      </p:sp>
      <p:pic>
        <p:nvPicPr>
          <p:cNvPr id="5" name="Image 0" descr="C:\Users\saira\OneDrive\Desktop\Playwright_Framework\docs\branding\innovatz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347472"/>
            <a:ext cx="1508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context</a:t>
            </a:r>
            <a:endParaRPr lang="en-US" sz="3200" dirty="0"/>
          </a:p>
        </p:txBody>
      </p:sp>
      <p:pic>
        <p:nvPicPr>
          <p:cNvPr id="7" name="Image 1" descr="C:\Users\saira\OneDrive\Desktop\Playwright_Framework\docs\branding\footer-pi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0" y="9802368"/>
            <a:ext cx="2651760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9784080"/>
            <a:ext cx="1280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Innovatz Global  ·  High Level Design  ·  Confidential</a:t>
            </a:r>
            <a:endParaRPr lang="en-US" sz="1100" dirty="0"/>
          </a:p>
        </p:txBody>
      </p:sp>
      <p:pic>
        <p:nvPicPr>
          <p:cNvPr id="9" name="Image 2" descr="C:\Users\saira\OneDrive\Desktop\Playwright_Framework\docs\diagrams\hld-01-system-con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26" y="1463040"/>
            <a:ext cx="16049549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02870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00" cy="73152"/>
          </a:xfrm>
          <a:prstGeom prst="rect">
            <a:avLst/>
          </a:prstGeom>
          <a:solidFill>
            <a:srgbClr val="4EA72E"/>
          </a:solidFill>
          <a:ln/>
        </p:spPr>
      </p:sp>
      <p:pic>
        <p:nvPicPr>
          <p:cNvPr id="5" name="Image 0" descr="C:\Users\saira\OneDrive\Desktop\Playwright_Framework\docs\branding\innovatz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347472"/>
            <a:ext cx="1508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testing tools</a:t>
            </a:r>
            <a:endParaRPr lang="en-US" sz="3200" dirty="0"/>
          </a:p>
        </p:txBody>
      </p:sp>
      <p:pic>
        <p:nvPicPr>
          <p:cNvPr id="7" name="Image 1" descr="C:\Users\saira\OneDrive\Desktop\Playwright_Framework\docs\branding\footer-pi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0" y="9802368"/>
            <a:ext cx="2651760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9784080"/>
            <a:ext cx="1280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Innovatz Global  ·  High Level Design  ·  Confidential</a:t>
            </a:r>
            <a:endParaRPr lang="en-US" sz="1100" dirty="0"/>
          </a:p>
        </p:txBody>
      </p:sp>
      <p:pic>
        <p:nvPicPr>
          <p:cNvPr id="9" name="Image 2" descr="C:\Users\saira\OneDrive\Desktop\Playwright_Framework\docs\diagrams\hld-02-automation-testing-too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76" y="1463040"/>
            <a:ext cx="4728362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02870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00" cy="73152"/>
          </a:xfrm>
          <a:prstGeom prst="rect">
            <a:avLst/>
          </a:prstGeom>
          <a:solidFill>
            <a:srgbClr val="4EA72E"/>
          </a:solidFill>
          <a:ln/>
        </p:spPr>
      </p:sp>
      <p:pic>
        <p:nvPicPr>
          <p:cNvPr id="5" name="Image 0" descr="C:\Users\saira\OneDrive\Desktop\Playwright_Framework\docs\branding\innovatz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347472"/>
            <a:ext cx="1508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chain</a:t>
            </a:r>
            <a:endParaRPr lang="en-US" sz="3200" dirty="0"/>
          </a:p>
        </p:txBody>
      </p:sp>
      <p:pic>
        <p:nvPicPr>
          <p:cNvPr id="7" name="Image 1" descr="C:\Users\saira\OneDrive\Desktop\Playwright_Framework\docs\branding\footer-pi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0" y="9802368"/>
            <a:ext cx="2651760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9784080"/>
            <a:ext cx="1280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Innovatz Global  ·  High Level Design  ·  Confidential</a:t>
            </a:r>
            <a:endParaRPr lang="en-US" sz="1100" dirty="0"/>
          </a:p>
        </p:txBody>
      </p:sp>
      <p:pic>
        <p:nvPicPr>
          <p:cNvPr id="9" name="Image 2" descr="C:\Users\saira\OneDrive\Desktop\Playwright_Framework\docs\diagrams\hld-03-call-ch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784702"/>
            <a:ext cx="16093440" cy="30376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02870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00" cy="73152"/>
          </a:xfrm>
          <a:prstGeom prst="rect">
            <a:avLst/>
          </a:prstGeom>
          <a:solidFill>
            <a:srgbClr val="4EA72E"/>
          </a:solidFill>
          <a:ln/>
        </p:spPr>
      </p:sp>
      <p:pic>
        <p:nvPicPr>
          <p:cNvPr id="5" name="Image 0" descr="C:\Users\saira\OneDrive\Desktop\Playwright_Framework\docs\branding\innovatz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347472"/>
            <a:ext cx="1508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</a:t>
            </a:r>
            <a:endParaRPr lang="en-US" sz="3200" dirty="0"/>
          </a:p>
        </p:txBody>
      </p:sp>
      <p:pic>
        <p:nvPicPr>
          <p:cNvPr id="7" name="Image 1" descr="C:\Users\saira\OneDrive\Desktop\Playwright_Framework\docs\branding\footer-pi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0" y="9802368"/>
            <a:ext cx="2651760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9784080"/>
            <a:ext cx="1280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Innovatz Global  ·  High Level Design  ·  Confidential</a:t>
            </a:r>
            <a:endParaRPr lang="en-US" sz="1100" dirty="0"/>
          </a:p>
        </p:txBody>
      </p:sp>
      <p:pic>
        <p:nvPicPr>
          <p:cNvPr id="9" name="Image 2" descr="C:\Users\saira\OneDrive\Desktop\Playwright_Framework\docs\diagrams\hld-04-execution-f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743" y="1463040"/>
            <a:ext cx="13711428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02870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00" cy="73152"/>
          </a:xfrm>
          <a:prstGeom prst="rect">
            <a:avLst/>
          </a:prstGeom>
          <a:solidFill>
            <a:srgbClr val="4EA72E"/>
          </a:solidFill>
          <a:ln/>
        </p:spPr>
      </p:sp>
      <p:pic>
        <p:nvPicPr>
          <p:cNvPr id="5" name="Image 0" descr="C:\Users\saira\OneDrive\Desktop\Playwright_Framework\docs\branding\innovatz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347472"/>
            <a:ext cx="1508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capture</a:t>
            </a:r>
            <a:endParaRPr lang="en-US" sz="3200" dirty="0"/>
          </a:p>
        </p:txBody>
      </p:sp>
      <p:pic>
        <p:nvPicPr>
          <p:cNvPr id="7" name="Image 1" descr="C:\Users\saira\OneDrive\Desktop\Playwright_Framework\docs\branding\footer-pi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0" y="9802368"/>
            <a:ext cx="2651760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9784080"/>
            <a:ext cx="1280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Innovatz Global  ·  High Level Design  ·  Confidential</a:t>
            </a:r>
            <a:endParaRPr lang="en-US" sz="1100" dirty="0"/>
          </a:p>
        </p:txBody>
      </p:sp>
      <p:pic>
        <p:nvPicPr>
          <p:cNvPr id="9" name="Image 2" descr="C:\Users\saira\OneDrive\Desktop\Playwright_Framework\docs\diagrams\hld-05-artifact-capt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912925"/>
            <a:ext cx="16093440" cy="67821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02870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00" cy="73152"/>
          </a:xfrm>
          <a:prstGeom prst="rect">
            <a:avLst/>
          </a:prstGeom>
          <a:solidFill>
            <a:srgbClr val="4EA72E"/>
          </a:solidFill>
          <a:ln/>
        </p:spPr>
      </p:sp>
      <p:pic>
        <p:nvPicPr>
          <p:cNvPr id="5" name="Image 0" descr="C:\Users\saira\OneDrive\Desktop\Playwright_Framework\docs\branding\innovatz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347472"/>
            <a:ext cx="1508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triage and model routing</a:t>
            </a:r>
            <a:endParaRPr lang="en-US" sz="3200" dirty="0"/>
          </a:p>
        </p:txBody>
      </p:sp>
      <p:pic>
        <p:nvPicPr>
          <p:cNvPr id="7" name="Image 1" descr="C:\Users\saira\OneDrive\Desktop\Playwright_Framework\docs\branding\footer-pi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0" y="9802368"/>
            <a:ext cx="2651760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9784080"/>
            <a:ext cx="1280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Innovatz Global  ·  High Level Design  ·  Confidential</a:t>
            </a:r>
            <a:endParaRPr lang="en-US" sz="1100" dirty="0"/>
          </a:p>
        </p:txBody>
      </p:sp>
      <p:pic>
        <p:nvPicPr>
          <p:cNvPr id="9" name="Image 2" descr="C:\Users\saira\OneDrive\Desktop\Playwright_Framework\docs\diagrams\hld-06-llm-triage-and-model-rout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738" y="1463040"/>
            <a:ext cx="7857439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02870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00" cy="73152"/>
          </a:xfrm>
          <a:prstGeom prst="rect">
            <a:avLst/>
          </a:prstGeom>
          <a:solidFill>
            <a:srgbClr val="4EA72E"/>
          </a:solidFill>
          <a:ln/>
        </p:spPr>
      </p:sp>
      <p:pic>
        <p:nvPicPr>
          <p:cNvPr id="5" name="Image 0" descr="C:\Users\saira\OneDrive\Desktop\Playwright_Framework\docs\branding\innovatz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347472"/>
            <a:ext cx="1508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automation scope</a:t>
            </a:r>
            <a:endParaRPr lang="en-US" sz="3200" dirty="0"/>
          </a:p>
        </p:txBody>
      </p:sp>
      <p:pic>
        <p:nvPicPr>
          <p:cNvPr id="7" name="Image 1" descr="C:\Users\saira\OneDrive\Desktop\Playwright_Framework\docs\branding\footer-pi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0" y="9802368"/>
            <a:ext cx="2651760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9784080"/>
            <a:ext cx="1280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Innovatz Global  ·  High Level Design  ·  Confidential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1051560" y="1554480"/>
            <a:ext cx="3840480" cy="6766560"/>
          </a:xfrm>
          <a:prstGeom prst="roundRect">
            <a:avLst>
              <a:gd name="adj" fmla="val 2857"/>
            </a:avLst>
          </a:prstGeom>
          <a:solidFill>
            <a:srgbClr val="F7FBFC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51560" y="1554480"/>
            <a:ext cx="3840480" cy="96012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1" name="Text 7"/>
          <p:cNvSpPr/>
          <p:nvPr/>
        </p:nvSpPr>
        <p:spPr>
          <a:xfrm>
            <a:off x="1051560" y="171907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25880" y="2880360"/>
            <a:ext cx="32918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sign-in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secrets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credentials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166360" y="1554480"/>
            <a:ext cx="3840480" cy="6766560"/>
          </a:xfrm>
          <a:prstGeom prst="roundRect">
            <a:avLst>
              <a:gd name="adj" fmla="val 2857"/>
            </a:avLst>
          </a:prstGeom>
          <a:solidFill>
            <a:srgbClr val="F7FBFC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166360" y="1554480"/>
            <a:ext cx="3840480" cy="960120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15" name="Text 11"/>
          <p:cNvSpPr/>
          <p:nvPr/>
        </p:nvSpPr>
        <p:spPr>
          <a:xfrm>
            <a:off x="5166360" y="171907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440680" y="2880360"/>
            <a:ext cx="32918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search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accounts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examples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9281160" y="1554480"/>
            <a:ext cx="3840480" cy="6766560"/>
          </a:xfrm>
          <a:prstGeom prst="roundRect">
            <a:avLst>
              <a:gd name="adj" fmla="val 2857"/>
            </a:avLst>
          </a:prstGeom>
          <a:solidFill>
            <a:srgbClr val="F7FBFC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281160" y="1554480"/>
            <a:ext cx="3840480" cy="96012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9" name="Text 15"/>
          <p:cNvSpPr/>
          <p:nvPr/>
        </p:nvSpPr>
        <p:spPr>
          <a:xfrm>
            <a:off x="9281160" y="171907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9555480" y="2880360"/>
            <a:ext cx="32918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as user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tags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13395960" y="1554480"/>
            <a:ext cx="3840480" cy="6766560"/>
          </a:xfrm>
          <a:prstGeom prst="roundRect">
            <a:avLst>
              <a:gd name="adj" fmla="val 2857"/>
            </a:avLst>
          </a:prstGeom>
          <a:solidFill>
            <a:srgbClr val="F7FBFC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3395960" y="1554480"/>
            <a:ext cx="3840480" cy="960120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23" name="Text 19"/>
          <p:cNvSpPr/>
          <p:nvPr/>
        </p:nvSpPr>
        <p:spPr>
          <a:xfrm>
            <a:off x="13395960" y="171907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tags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13670280" y="2880360"/>
            <a:ext cx="32918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@smoke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@positive / @negative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@datadriven / @e2e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02870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00" cy="73152"/>
          </a:xfrm>
          <a:prstGeom prst="rect">
            <a:avLst/>
          </a:prstGeom>
          <a:solidFill>
            <a:srgbClr val="4EA72E"/>
          </a:solidFill>
          <a:ln/>
        </p:spPr>
      </p:sp>
      <p:pic>
        <p:nvPicPr>
          <p:cNvPr id="5" name="Image 0" descr="C:\Users\saira\OneDrive\Desktop\Playwright_Framework\docs\branding\innovatz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347472"/>
            <a:ext cx="1508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reporting</a:t>
            </a:r>
            <a:endParaRPr lang="en-US" sz="3200" dirty="0"/>
          </a:p>
        </p:txBody>
      </p:sp>
      <p:pic>
        <p:nvPicPr>
          <p:cNvPr id="7" name="Image 1" descr="C:\Users\saira\OneDrive\Desktop\Playwright_Framework\docs\branding\footer-pi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0" y="9802368"/>
            <a:ext cx="2651760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9784080"/>
            <a:ext cx="1280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Innovatz Global  ·  High Level Design  ·  Confidential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1325880"/>
          <a:ext cx="16002000" cy="914400"/>
        </p:xfrm>
        <a:graphic>
          <a:graphicData uri="http://schemas.openxmlformats.org/drawingml/2006/table">
            <a:tbl>
              <a:tblPr/>
              <a:tblGrid>
                <a:gridCol w="7772400"/>
                <a:gridCol w="8229600"/>
              </a:tblGrid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56082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Extent activity HTML (branded)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+ action log, video, traces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BFC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failures.html (branded)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Root-cause review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dashboard (branded)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/ trends / flaky / AI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BFC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/ CI standard report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Screenshots · Video · Trace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 and demo evidence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02870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00" cy="73152"/>
          </a:xfrm>
          <a:prstGeom prst="rect">
            <a:avLst/>
          </a:prstGeom>
          <a:solidFill>
            <a:srgbClr val="4EA72E"/>
          </a:solidFill>
          <a:ln/>
        </p:spPr>
      </p:sp>
      <p:pic>
        <p:nvPicPr>
          <p:cNvPr id="5" name="Image 0" descr="C:\Users\saira\OneDrive\Desktop\Playwright_Framework\docs\branding\innovatz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347472"/>
            <a:ext cx="1508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CI secrets</a:t>
            </a:r>
            <a:endParaRPr lang="en-US" sz="3200" dirty="0"/>
          </a:p>
        </p:txBody>
      </p:sp>
      <p:pic>
        <p:nvPicPr>
          <p:cNvPr id="7" name="Image 1" descr="C:\Users\saira\OneDrive\Desktop\Playwright_Framework\docs\branding\footer-pi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0" y="9802368"/>
            <a:ext cx="2651760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9784080"/>
            <a:ext cx="1280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Innovatz Global  ·  High Level Design  ·  Confidential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51560" y="1234440"/>
            <a:ext cx="1600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GitHub Actions  ·  Chromium / Firefox / WebKit  ·  real AUT  ·  LLM off in CI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1783080"/>
          <a:ext cx="160020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2926080"/>
                <a:gridCol w="8046720"/>
              </a:tblGrid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56082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APP_USERNAME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banking login user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B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APP_PASSWORD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or enc.v1… ciphertext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APP_ENCRYPTION_KEY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encrypted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Decrypts APP_PASSWORD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B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BROWSERSTACK_*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BrowserStack job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1051560" y="8869680"/>
            <a:ext cx="1600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fails before tests if APP_USERNAME or APP_PASSWORD is missing. Never commit secrets.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ira\OneDrive\Desktop\Playwright_Framework\docs\branding\dark-b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C:\Users\saira\OneDrive\Desktop\Playwright_Framework\docs\branding\innovatz-log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097280"/>
            <a:ext cx="1188720" cy="1188720"/>
          </a:xfrm>
          <a:prstGeom prst="rect">
            <a:avLst/>
          </a:prstGeom>
        </p:spPr>
      </p:pic>
      <p:pic>
        <p:nvPicPr>
          <p:cNvPr id="4" name="Image 2" descr="C:\Users\saira\OneDrive\Desktop\Playwright_Framework\docs\branding\footer-pil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646920"/>
            <a:ext cx="2651760" cy="25603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371600" y="2926080"/>
            <a:ext cx="1554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2286000" y="3931920"/>
            <a:ext cx="1371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HLD diagrams with architecture and delivery owners
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CI secrets: APP_USERNAME, APP_PASSWORD (+ APP_ENCRYPTION_KEY if needed)
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next feature areas with the business team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1828800" y="7680960"/>
            <a:ext cx="1463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revolutionizing your testing strategy with AI-driven insights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Level Design — Playwright BDD Cucumber Framework</dc:title>
  <dc:subject>HLD stakeholder briefing (Innovatz branding)</dc:subject>
  <dc:creator>Innovatz Global</dc:creator>
  <cp:lastModifiedBy>Innovatz Global</cp:lastModifiedBy>
  <cp:revision>1</cp:revision>
  <dcterms:created xsi:type="dcterms:W3CDTF">2026-08-17T08:06:27Z</dcterms:created>
  <dcterms:modified xsi:type="dcterms:W3CDTF">2026-08-17T08:06:27Z</dcterms:modified>
</cp:coreProperties>
</file>